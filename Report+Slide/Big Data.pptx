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handoutMasterIdLst>
    <p:handoutMasterId r:id="rId15"/>
  </p:handoutMasterIdLst>
  <p:sldIdLst>
    <p:sldId id="275" r:id="rId2"/>
    <p:sldId id="276" r:id="rId3"/>
    <p:sldId id="277" r:id="rId4"/>
    <p:sldId id="285" r:id="rId5"/>
    <p:sldId id="292" r:id="rId6"/>
    <p:sldId id="286" r:id="rId7"/>
    <p:sldId id="287" r:id="rId8"/>
    <p:sldId id="288" r:id="rId9"/>
    <p:sldId id="289" r:id="rId10"/>
    <p:sldId id="291" r:id="rId11"/>
    <p:sldId id="290" r:id="rId12"/>
    <p:sldId id="28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87585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8719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8930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77595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1553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9252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0321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69507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81953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48865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802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482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1134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65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12/21/2025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90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83" r:id="rId15"/>
    <p:sldLayoutId id="2147483679" r:id="rId16"/>
    <p:sldLayoutId id="2147483680" r:id="rId17"/>
    <p:sldLayoutId id="2147483681" r:id="rId18"/>
    <p:sldLayoutId id="214748368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389AE-89DD-500D-1746-44039D5B2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A51B0069-6F04-9BC7-2A5A-D4C8A20B7BB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479DD0E4-E443-478C-C565-0FA9B1722ABA}"/>
              </a:ext>
            </a:extLst>
          </p:cNvPr>
          <p:cNvSpPr txBox="1">
            <a:spLocks/>
          </p:cNvSpPr>
          <p:nvPr/>
        </p:nvSpPr>
        <p:spPr>
          <a:xfrm>
            <a:off x="413012" y="1864421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Live Weather Data Aggregation System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82F87F13-B3CE-6E31-CB18-40B614BF114A}"/>
              </a:ext>
            </a:extLst>
          </p:cNvPr>
          <p:cNvSpPr txBox="1">
            <a:spLocks/>
          </p:cNvSpPr>
          <p:nvPr/>
        </p:nvSpPr>
        <p:spPr>
          <a:xfrm>
            <a:off x="413012" y="3800886"/>
            <a:ext cx="7342482" cy="18348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Group 15</a:t>
            </a:r>
          </a:p>
          <a:p>
            <a:endParaRPr lang="en-US" sz="2000" b="0" dirty="0"/>
          </a:p>
          <a:p>
            <a:r>
              <a:rPr lang="en-US" sz="2000" b="0" dirty="0" err="1"/>
              <a:t>Đỗ</a:t>
            </a:r>
            <a:r>
              <a:rPr lang="en-US" sz="2000" b="0" dirty="0"/>
              <a:t> </a:t>
            </a:r>
            <a:r>
              <a:rPr lang="en-US" sz="2000" b="0" dirty="0" err="1"/>
              <a:t>Doãn</a:t>
            </a:r>
            <a:r>
              <a:rPr lang="en-US" sz="2000" b="0" dirty="0"/>
              <a:t> Hoàng Du – 20220060</a:t>
            </a:r>
          </a:p>
          <a:p>
            <a:r>
              <a:rPr lang="en-US" sz="2000" b="0" dirty="0"/>
              <a:t>Lê Gia Huy – 20225498</a:t>
            </a:r>
          </a:p>
          <a:p>
            <a:r>
              <a:rPr lang="en-US" sz="2000" b="0" dirty="0"/>
              <a:t>Nguyễn Tiến Thành – 20225459</a:t>
            </a:r>
          </a:p>
          <a:p>
            <a:r>
              <a:rPr lang="en-US" sz="2000" b="0" dirty="0" err="1"/>
              <a:t>Tăng</a:t>
            </a:r>
            <a:r>
              <a:rPr lang="en-US" sz="2000" b="0" dirty="0"/>
              <a:t> </a:t>
            </a:r>
            <a:r>
              <a:rPr lang="en-US" sz="2000" b="0" dirty="0" err="1"/>
              <a:t>Tiệu</a:t>
            </a:r>
            <a:r>
              <a:rPr lang="en-US" sz="2000" b="0" dirty="0"/>
              <a:t> Long - 20225507</a:t>
            </a:r>
          </a:p>
          <a:p>
            <a:endParaRPr lang="en-US" sz="2000" b="0" dirty="0"/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2272446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AAB27-AE5B-1ECA-87E1-47CB3C041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81B4DA-3217-3075-C8B7-3C3BF348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D1AF57-C6F6-12DC-8777-C86904CD2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32" y="202441"/>
            <a:ext cx="8673846" cy="451739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Overview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878BE-3654-2198-6723-86B6366372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1206373"/>
            <a:ext cx="8674100" cy="4261368"/>
          </a:xfrm>
        </p:spPr>
        <p:txBody>
          <a:bodyPr>
            <a:normAutofit fontScale="92500" lnSpcReduction="10000"/>
          </a:bodyPr>
          <a:lstStyle/>
          <a:p>
            <a:r>
              <a:rPr lang="en-US" sz="1900" dirty="0"/>
              <a:t>The project focuses on creating an end-to-end data pipeline to ingest, process, store, and visualize real-time weather data.</a:t>
            </a:r>
          </a:p>
          <a:p>
            <a:r>
              <a:rPr lang="en-US" sz="1900" dirty="0"/>
              <a:t>The system adopts a modular, fully containerized architecture for consistent deployment and easy scaling across all components.</a:t>
            </a:r>
          </a:p>
          <a:p>
            <a:r>
              <a:rPr lang="en-US" sz="1900" dirty="0"/>
              <a:t>The system is capable of:</a:t>
            </a:r>
          </a:p>
          <a:p>
            <a:pPr lvl="1"/>
            <a:r>
              <a:rPr lang="en-US" sz="1900" dirty="0"/>
              <a:t>Continuously ingesting data from multiple sources (APIs, sensors).</a:t>
            </a:r>
          </a:p>
          <a:p>
            <a:pPr lvl="1"/>
            <a:r>
              <a:rPr lang="en-US" sz="1900" dirty="0"/>
              <a:t>Processing and enriching data via streaming.</a:t>
            </a:r>
          </a:p>
          <a:p>
            <a:pPr lvl="1"/>
            <a:r>
              <a:rPr lang="en-US" sz="1900" dirty="0"/>
              <a:t>Providing a powerful SQL query interface and visualization tools for data exploration.</a:t>
            </a:r>
          </a:p>
          <a:p>
            <a:pPr lvl="1"/>
            <a:r>
              <a:rPr lang="en-US" sz="1900" dirty="0"/>
              <a:t>Dual-path outputs: OLAP (analytics data lake) and OLTP (serving DB for low-latency queries).</a:t>
            </a:r>
          </a:p>
          <a:p>
            <a:r>
              <a:rPr lang="en-US" sz="1900" dirty="0"/>
              <a:t>The entire platform is orchestrated through a multi-service Docker Compose environment. Each component—</a:t>
            </a:r>
            <a:r>
              <a:rPr lang="en-US" sz="1900" dirty="0" err="1"/>
              <a:t>NiFi</a:t>
            </a:r>
            <a:r>
              <a:rPr lang="en-US" sz="1900" dirty="0"/>
              <a:t>, Kafka, Spark, </a:t>
            </a:r>
            <a:r>
              <a:rPr lang="en-US" sz="1900" dirty="0" err="1"/>
              <a:t>MinIO</a:t>
            </a:r>
            <a:r>
              <a:rPr lang="en-US" sz="1900" dirty="0"/>
              <a:t>, Hive </a:t>
            </a:r>
            <a:r>
              <a:rPr lang="en-US" sz="1900" dirty="0" err="1"/>
              <a:t>Metastore</a:t>
            </a:r>
            <a:r>
              <a:rPr lang="en-US" sz="1900" dirty="0"/>
              <a:t>, MongoDB, Trino, and Superset—runs as a dedicated container, simplifying operations and enabling effortless scaling. This approach ensures reproducibility, fast setup, and clean service isolation.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2520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E720-A4B5-DB1C-9E80-4E3F0E3E3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F7AB4B-5572-2940-3082-4B67CB6B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EF67E4-D29B-C73E-7F69-2E69C4871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General architecture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A0B455-BCA3-85DA-D2FA-7E770F6CA4F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320" y="841375"/>
            <a:ext cx="5203359" cy="5303838"/>
          </a:xfrm>
        </p:spPr>
      </p:pic>
    </p:spTree>
    <p:extLst>
      <p:ext uri="{BB962C8B-B14F-4D97-AF65-F5344CB8AC3E}">
        <p14:creationId xmlns:p14="http://schemas.microsoft.com/office/powerpoint/2010/main" val="665563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E5579-5E78-1D0E-68DB-5B5A04EC5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153265-E683-5FD9-7E3E-720A9C85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65CD1C-BE27-2A3A-1C52-ED13B85CE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Source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579D1B8E-C2CC-2CFE-28FC-1E01716230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2937" y="3276599"/>
            <a:ext cx="1951463" cy="195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126B94A-8B22-8097-6E1F-0777F9A61C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75EED11-BD1D-3389-965B-99C11A1D0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542" y="1028343"/>
            <a:ext cx="8294915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system establishes a continuous data ingestion pipeline from a globally trusted meteorological provider to ensure high accuracy: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Primary Source: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Leveraged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OpenWeatherMap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(Current Weather Data endpoint).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Format: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Semi-structured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containing nested weather metrics.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Coverage: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Real-time monitoring for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provinces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cities in Vietnam.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Metrics Extracted: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Temperature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Celcius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), Humidity (%), Wind Speed/Direction, and P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ressure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OpenWeatherMap monitoring and integration with Zabbix">
            <a:extLst>
              <a:ext uri="{FF2B5EF4-FFF2-40B4-BE49-F238E27FC236}">
                <a16:creationId xmlns:a16="http://schemas.microsoft.com/office/drawing/2014/main" id="{548A8E9A-360D-3FCD-CFE6-884A49FCC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36" y="3849266"/>
            <a:ext cx="412432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721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4A906-8B96-920A-B4A5-4D59F5131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A25CA8-0A93-6B28-E501-89AB78EF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BC0BFF-3F50-B15D-8208-B2C6D69E2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ingestion layer: Apache </a:t>
            </a:r>
            <a:r>
              <a:rPr lang="en-US" dirty="0" err="1"/>
              <a:t>NiFi</a:t>
            </a:r>
            <a:r>
              <a:rPr lang="en-US" dirty="0"/>
              <a:t> and Kafka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D61080-259A-D01E-85AE-A07D8E4D1B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3" y="1135440"/>
            <a:ext cx="8674100" cy="3139194"/>
          </a:xfrm>
        </p:spPr>
        <p:txBody>
          <a:bodyPr/>
          <a:lstStyle/>
          <a:p>
            <a:r>
              <a:rPr lang="en-US" sz="1800" b="1" dirty="0" err="1"/>
              <a:t>NiFi</a:t>
            </a:r>
            <a:r>
              <a:rPr lang="en-US" sz="1800" b="1" dirty="0"/>
              <a:t> Flow</a:t>
            </a:r>
            <a:r>
              <a:rPr lang="en-US" sz="1800" dirty="0"/>
              <a:t>: Automates multi-city weather data collection, transforms raw API responses, and publishes structured JSON messages to a Kafka topic.</a:t>
            </a:r>
          </a:p>
          <a:p>
            <a:r>
              <a:rPr lang="en-US" sz="1800" b="1" dirty="0"/>
              <a:t>Kafka Consumer</a:t>
            </a:r>
            <a:r>
              <a:rPr lang="en-US" sz="1800" dirty="0"/>
              <a:t>: Reads and verifies the live messages streamed from the pipeline, ensuring that data is produced correctly and consistently in real time.</a:t>
            </a:r>
          </a:p>
          <a:p>
            <a:endParaRPr lang="en-US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267FE194-9CE6-0A38-FF2B-8C85EDE4A7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2937" y="3276599"/>
            <a:ext cx="1951463" cy="195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D2F0BF3-325B-203F-C675-E8D635CD17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B1BD55-C2C4-4543-8F5B-4AC5FF725E4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3" y="2923228"/>
            <a:ext cx="4172246" cy="23048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DE0FA32-F162-BBCE-9974-7116B155B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717" y="2923228"/>
            <a:ext cx="4199600" cy="23048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DA05B22-86A2-4C74-95BE-9FF6B166D445}"/>
              </a:ext>
            </a:extLst>
          </p:cNvPr>
          <p:cNvSpPr txBox="1">
            <a:spLocks/>
          </p:cNvSpPr>
          <p:nvPr/>
        </p:nvSpPr>
        <p:spPr>
          <a:xfrm>
            <a:off x="1689190" y="5367654"/>
            <a:ext cx="8674100" cy="3139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/>
              <a:t>NiFi Flow</a:t>
            </a:r>
            <a:endParaRPr lang="en-US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6AB81021-D023-0320-A93B-8E77F3EC7D23}"/>
              </a:ext>
            </a:extLst>
          </p:cNvPr>
          <p:cNvSpPr txBox="1">
            <a:spLocks/>
          </p:cNvSpPr>
          <p:nvPr/>
        </p:nvSpPr>
        <p:spPr>
          <a:xfrm>
            <a:off x="5439716" y="5367654"/>
            <a:ext cx="8674100" cy="3139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/>
              <a:t>Kafka Consumer (terminal)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515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E839C-2FBF-8ED3-4547-5ABDB3DDE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C54E4-FBFE-EA51-ABE6-3062D9F1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23F0D-C072-65E9-E02B-C50A71E3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Streaming Flow with </a:t>
            </a:r>
            <a:r>
              <a:rPr lang="en-US" dirty="0" err="1"/>
              <a:t>NiFi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717BFC-F796-CE25-E116-DD4BB73E36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45" y="859979"/>
            <a:ext cx="9172252" cy="3057616"/>
          </a:xfrm>
        </p:spPr>
        <p:txBody>
          <a:bodyPr>
            <a:noAutofit/>
          </a:bodyPr>
          <a:lstStyle/>
          <a:p>
            <a:r>
              <a:rPr lang="en-US" sz="1600" b="1" dirty="0" err="1"/>
              <a:t>NiFi</a:t>
            </a:r>
            <a:r>
              <a:rPr lang="en-US" sz="1600" b="1" dirty="0"/>
              <a:t> Flow</a:t>
            </a:r>
            <a:r>
              <a:rPr lang="en-US" sz="1600" dirty="0"/>
              <a:t>:</a:t>
            </a:r>
          </a:p>
          <a:p>
            <a:pPr lvl="1"/>
            <a:r>
              <a:rPr lang="en-US" sz="1600" b="1" dirty="0"/>
              <a:t>Scheduler:</a:t>
            </a:r>
            <a:r>
              <a:rPr lang="en-US" sz="1600" dirty="0"/>
              <a:t> Triggers the entire flow on a fixed schedule (e.g., every 15 minutes)</a:t>
            </a:r>
          </a:p>
          <a:p>
            <a:pPr lvl="1"/>
            <a:r>
              <a:rPr lang="en-US" sz="1600" b="1" dirty="0"/>
              <a:t>Create List:</a:t>
            </a:r>
            <a:r>
              <a:rPr lang="en-US" sz="1600" dirty="0"/>
              <a:t> Generates a </a:t>
            </a:r>
            <a:r>
              <a:rPr lang="en-US" sz="1600" dirty="0" err="1"/>
              <a:t>FlowFile</a:t>
            </a:r>
            <a:r>
              <a:rPr lang="en-US" sz="1600" dirty="0"/>
              <a:t> containing a list of target cities (Hanoi, Da Nang, etc.).</a:t>
            </a:r>
          </a:p>
          <a:p>
            <a:pPr lvl="1"/>
            <a:r>
              <a:rPr lang="en-US" sz="1600" b="1" dirty="0"/>
              <a:t>Split:</a:t>
            </a:r>
            <a:r>
              <a:rPr lang="en-US" sz="1600" dirty="0"/>
              <a:t> Splits the list into individual </a:t>
            </a:r>
            <a:r>
              <a:rPr lang="en-US" sz="1600" dirty="0" err="1"/>
              <a:t>FlowFiles</a:t>
            </a:r>
            <a:r>
              <a:rPr lang="en-US" sz="1600" dirty="0"/>
              <a:t>, one for each city.</a:t>
            </a:r>
          </a:p>
          <a:p>
            <a:pPr lvl="1"/>
            <a:r>
              <a:rPr lang="en-US" sz="1600" b="1" dirty="0"/>
              <a:t>Extract:</a:t>
            </a:r>
            <a:r>
              <a:rPr lang="en-US" sz="1600" dirty="0"/>
              <a:t> Reads the city name from the content and saves it as an attribute (e.g., city = "Hanoi").</a:t>
            </a:r>
          </a:p>
          <a:p>
            <a:pPr lvl="1"/>
            <a:r>
              <a:rPr lang="en-US" sz="1600" b="1" dirty="0"/>
              <a:t>Fetch:</a:t>
            </a:r>
            <a:r>
              <a:rPr lang="en-US" sz="1600" dirty="0"/>
              <a:t> Uses the city attribute to call the OpenWeatherMap API and get the raw JSON data.</a:t>
            </a:r>
          </a:p>
          <a:p>
            <a:pPr lvl="1"/>
            <a:r>
              <a:rPr lang="en-US" sz="1600" b="1" dirty="0"/>
              <a:t>Transform:</a:t>
            </a:r>
            <a:r>
              <a:rPr lang="en-US" sz="1600" dirty="0"/>
              <a:t> Cleans the raw JSON and adds a new timestamp field.</a:t>
            </a:r>
          </a:p>
          <a:p>
            <a:pPr lvl="1"/>
            <a:r>
              <a:rPr lang="en-US" sz="1600" b="1" dirty="0"/>
              <a:t>Publish:</a:t>
            </a:r>
            <a:r>
              <a:rPr lang="en-US" sz="1600" dirty="0"/>
              <a:t> Sends the final, clean JSON to the weather-data Kafka topic, using the city as the message key.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B8367468-AF5D-DFB3-FDA7-1AB8045878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22704" y="3314701"/>
            <a:ext cx="1463597" cy="146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5AC479F-9BCE-7E0E-C2F4-F2ECE10CF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9A468D-9BB4-2947-F3E5-CA19C295C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583" y="3596058"/>
            <a:ext cx="5009434" cy="26646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12995483-044E-583A-E403-A5B647309882}"/>
              </a:ext>
            </a:extLst>
          </p:cNvPr>
          <p:cNvSpPr txBox="1">
            <a:spLocks/>
          </p:cNvSpPr>
          <p:nvPr/>
        </p:nvSpPr>
        <p:spPr>
          <a:xfrm>
            <a:off x="5222787" y="4882990"/>
            <a:ext cx="6505575" cy="235439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937640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33AA1-B391-6A22-2AB1-B4C6A4A0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DDC63C-1BB3-1CEF-3FCF-7862DD19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7BCCA8-D17C-BF5A-B2D8-4D246FD0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113289"/>
            <a:ext cx="8673846" cy="451739"/>
          </a:xfrm>
        </p:spPr>
        <p:txBody>
          <a:bodyPr>
            <a:normAutofit fontScale="90000"/>
          </a:bodyPr>
          <a:lstStyle/>
          <a:p>
            <a:r>
              <a:rPr lang="en-US" dirty="0"/>
              <a:t>Data Processing with Apache Spark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352529-B988-8A40-9234-7C3CF248AC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3" y="1973896"/>
            <a:ext cx="8674100" cy="2605403"/>
          </a:xfrm>
        </p:spPr>
        <p:txBody>
          <a:bodyPr/>
          <a:lstStyle/>
          <a:p>
            <a:r>
              <a:rPr lang="en-US" sz="1800" b="1" dirty="0"/>
              <a:t>Apache Spark</a:t>
            </a:r>
            <a:r>
              <a:rPr lang="en-US" sz="1800" dirty="0"/>
              <a:t>: processes streaming weather data from Kafka and writes to Iceberg and MongoDB.</a:t>
            </a:r>
          </a:p>
          <a:p>
            <a:r>
              <a:rPr lang="en-US" sz="1800" b="1" dirty="0"/>
              <a:t>Key Workflow:</a:t>
            </a:r>
            <a:endParaRPr lang="en-US" sz="1800" dirty="0"/>
          </a:p>
          <a:p>
            <a:pPr lvl="1"/>
            <a:r>
              <a:rPr lang="en-US" sz="1800" b="1" dirty="0"/>
              <a:t>Ingest:</a:t>
            </a:r>
            <a:r>
              <a:rPr lang="en-US" sz="1800" dirty="0"/>
              <a:t> Consumes raw JSON events from Kafka topic “weather-data”.</a:t>
            </a:r>
          </a:p>
          <a:p>
            <a:pPr lvl="1"/>
            <a:r>
              <a:rPr lang="en-US" sz="1800" b="1" dirty="0"/>
              <a:t>Parse &amp; Clean:</a:t>
            </a:r>
            <a:r>
              <a:rPr lang="en-US" sz="1800" dirty="0"/>
              <a:t> Validates data schema and handles missing values.</a:t>
            </a:r>
          </a:p>
          <a:p>
            <a:pPr lvl="1"/>
            <a:r>
              <a:rPr lang="en-US" sz="1800" b="1" dirty="0"/>
              <a:t>Aggregate:</a:t>
            </a:r>
            <a:r>
              <a:rPr lang="en-US" sz="1800" dirty="0"/>
              <a:t> Computes hourly weather statistics.</a:t>
            </a:r>
          </a:p>
          <a:p>
            <a:pPr lvl="1"/>
            <a:r>
              <a:rPr lang="en-US" sz="1800" b="1" dirty="0"/>
              <a:t>Route:</a:t>
            </a:r>
            <a:r>
              <a:rPr lang="en-US" sz="1800" dirty="0"/>
              <a:t> Distributes data to Iceberg (for analytics) and MongoDB (for real-time serving).</a:t>
            </a:r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C5BA49B-9DFE-33C0-678A-440FCBAD3A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2937" y="3276599"/>
            <a:ext cx="1951463" cy="195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583A0CC9-971B-A8A6-DD44-821B641549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74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E8405-0282-0FA7-6A6E-4C54811B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D71C24-EC31-6464-2133-357DA8888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0A7789-F083-BC8A-03E6-30829072A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113289"/>
            <a:ext cx="8673846" cy="451739"/>
          </a:xfrm>
        </p:spPr>
        <p:txBody>
          <a:bodyPr>
            <a:normAutofit fontScale="90000"/>
          </a:bodyPr>
          <a:lstStyle/>
          <a:p>
            <a:r>
              <a:rPr lang="en-US" dirty="0"/>
              <a:t>Apache Spark: Data Transformation and Aggregation Logic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6336FF-266F-427E-8B3E-A8BF7FABD8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3" y="1086147"/>
            <a:ext cx="8674100" cy="4685706"/>
          </a:xfrm>
        </p:spPr>
        <p:txBody>
          <a:bodyPr>
            <a:normAutofit lnSpcReduction="10000"/>
          </a:bodyPr>
          <a:lstStyle/>
          <a:p>
            <a:r>
              <a:rPr lang="en-US" sz="1800" b="1" dirty="0"/>
              <a:t>Schema Enforcement: </a:t>
            </a:r>
            <a:r>
              <a:rPr lang="en-US" sz="1800" dirty="0"/>
              <a:t>Raw JSON strings are parsed into </a:t>
            </a:r>
            <a:r>
              <a:rPr lang="en-US" sz="1800" dirty="0" err="1"/>
              <a:t>DataFrames</a:t>
            </a:r>
            <a:r>
              <a:rPr lang="en-US" sz="1800" dirty="0"/>
              <a:t> using a predefined schema (</a:t>
            </a:r>
            <a:r>
              <a:rPr lang="en-US" sz="1800" dirty="0" err="1"/>
              <a:t>StructType</a:t>
            </a:r>
            <a:r>
              <a:rPr lang="en-US" sz="1800" dirty="0"/>
              <a:t>). This ensures invalid data is rejected early in the pipeline.</a:t>
            </a:r>
          </a:p>
          <a:p>
            <a:endParaRPr lang="en-US" sz="1800" dirty="0"/>
          </a:p>
          <a:p>
            <a:r>
              <a:rPr lang="en-US" sz="1800" b="1" dirty="0"/>
              <a:t>Event-Time Processing: </a:t>
            </a:r>
            <a:r>
              <a:rPr lang="en-US" sz="1800" dirty="0"/>
              <a:t>The system uses the actual event time rather than ingestion time. It also implemented a strategy to handle null timestamps by falling back to Kafka ingestion timestamp if API Timestamp is null.</a:t>
            </a:r>
          </a:p>
          <a:p>
            <a:endParaRPr lang="en-US" sz="1800" dirty="0"/>
          </a:p>
          <a:p>
            <a:r>
              <a:rPr lang="en-US" sz="1800" b="1" dirty="0"/>
              <a:t>Tumbling Windows</a:t>
            </a:r>
            <a:r>
              <a:rPr lang="en-US" sz="1800" dirty="0"/>
              <a:t>: Data is grouped into </a:t>
            </a:r>
            <a:r>
              <a:rPr lang="en-US" sz="1800" b="1" dirty="0"/>
              <a:t>1-hour non-overlapping windows</a:t>
            </a:r>
            <a:r>
              <a:rPr lang="en-US" sz="1800" dirty="0"/>
              <a:t> (e.g., 08:00-09:00, 09:00-10:00). The system also apply </a:t>
            </a:r>
            <a:r>
              <a:rPr lang="en-US" sz="1800" b="1" dirty="0"/>
              <a:t>Watermarking Mechanism </a:t>
            </a:r>
            <a:r>
              <a:rPr lang="en-US" sz="1800" dirty="0"/>
              <a:t>with 10 minutes threshold to handles late-arriving data and determines when a window is closed to flush results to storage.</a:t>
            </a:r>
          </a:p>
          <a:p>
            <a:endParaRPr lang="en-US" sz="1800" dirty="0"/>
          </a:p>
          <a:p>
            <a:r>
              <a:rPr lang="en-US" sz="1800" b="1" dirty="0"/>
              <a:t>Calculated Metrics: </a:t>
            </a:r>
            <a:r>
              <a:rPr lang="en-US" sz="1800" dirty="0"/>
              <a:t>AVG/MAX/MIN(Temperature), AVG(Humidity), AVG(Pressure), AVG(Wind Speed). The system also implements </a:t>
            </a:r>
            <a:r>
              <a:rPr lang="en-US" sz="1800" b="1" dirty="0"/>
              <a:t>custom User Defined Function (UDF)</a:t>
            </a:r>
            <a:r>
              <a:rPr lang="en-US" sz="1800" dirty="0"/>
              <a:t> to classify weather conditions (e.g., "Scorching", "Comfortable") based on Temperature and Humidity.</a:t>
            </a:r>
          </a:p>
          <a:p>
            <a:endParaRPr lang="en-US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CB7FF6D-96C7-81AC-4E21-336A578076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2937" y="3276599"/>
            <a:ext cx="1951463" cy="195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9B9A89E-D935-6B19-691B-FEE74972E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30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B619-79EF-383D-4C59-C7649B976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48103E-568C-1A1C-6F4B-E68BDED9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CEA776-A46F-B09D-5D58-3454DFD3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113289"/>
            <a:ext cx="8673846" cy="451739"/>
          </a:xfrm>
        </p:spPr>
        <p:txBody>
          <a:bodyPr>
            <a:normAutofit fontScale="90000"/>
          </a:bodyPr>
          <a:lstStyle/>
          <a:p>
            <a:r>
              <a:rPr lang="en-US" dirty="0"/>
              <a:t>Storage Layer - Apache Iceberg and MongoDB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0C003C-CB4D-491A-2D7E-A0372F188B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1459026"/>
            <a:ext cx="8674100" cy="3635143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The system splits processed data into two distinct storage layers optimized for different latency requirements:</a:t>
            </a:r>
          </a:p>
          <a:p>
            <a:pPr lvl="1"/>
            <a:r>
              <a:rPr lang="en-US" sz="1800" b="1" dirty="0"/>
              <a:t>Analytics Path: </a:t>
            </a:r>
            <a:r>
              <a:rPr lang="en-US" sz="1800" dirty="0"/>
              <a:t>We utilize </a:t>
            </a:r>
            <a:r>
              <a:rPr lang="en-US" sz="1800" b="1" dirty="0" err="1"/>
              <a:t>MinIO</a:t>
            </a:r>
            <a:r>
              <a:rPr lang="en-US" sz="1800" dirty="0"/>
              <a:t>, a high-performance, S3-compatible object storage system. On top of </a:t>
            </a:r>
            <a:r>
              <a:rPr lang="en-US" sz="1800" dirty="0" err="1"/>
              <a:t>MinIO</a:t>
            </a:r>
            <a:r>
              <a:rPr lang="en-US" sz="1800" dirty="0"/>
              <a:t>, we implement </a:t>
            </a:r>
            <a:r>
              <a:rPr lang="en-US" sz="1800" b="1" dirty="0"/>
              <a:t>Apache Iceberg </a:t>
            </a:r>
            <a:r>
              <a:rPr lang="en-US" sz="1800" dirty="0"/>
              <a:t>which brings database-like features to object storage. Spark will append data to Iceberg tables in batches after the aggregation window closes, ensuring efficient file sizing and read performance.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Serving Path:</a:t>
            </a:r>
            <a:r>
              <a:rPr lang="en-US" sz="1800" dirty="0"/>
              <a:t> We use </a:t>
            </a:r>
            <a:r>
              <a:rPr lang="en-US" sz="1800" b="1" dirty="0"/>
              <a:t>MongoDB</a:t>
            </a:r>
            <a:r>
              <a:rPr lang="en-US" sz="1800" dirty="0"/>
              <a:t>, a NoSQL document database with flexible schema, which perfectly matches the JSON structure of weather data. Spark will use an </a:t>
            </a:r>
            <a:r>
              <a:rPr lang="en-US" sz="1800" dirty="0" err="1"/>
              <a:t>Upsert</a:t>
            </a:r>
            <a:r>
              <a:rPr lang="en-US" sz="1800" dirty="0"/>
              <a:t> (Update or Insert) logic to continuously updates the document for each city with the </a:t>
            </a:r>
            <a:r>
              <a:rPr lang="en-US" sz="1800" i="1" dirty="0"/>
              <a:t>latest</a:t>
            </a:r>
            <a:r>
              <a:rPr lang="en-US" sz="1800" dirty="0"/>
              <a:t> weather information. This ensures that dashboards always display the most current state without needing complex aggregation queries at read time.</a:t>
            </a:r>
            <a:endParaRPr lang="en-US" sz="1800" b="1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06CBD8F6-EFCD-CC1C-6A47-D8FC8CAB56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2937" y="3276599"/>
            <a:ext cx="1951463" cy="195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CAEB9B7-F61C-64D3-04BE-3A66DF7EEE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4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47C59-65C9-730E-7669-D9E4A7BB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428E8D-626D-5708-AFC6-80600648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FCFB71-7E75-C3A3-9EDE-A552E3AF1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113289"/>
            <a:ext cx="8673846" cy="451739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and Visualization Layer- Trino and Apache Superset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A133B3-E67C-6BC2-79A7-99CBC2B632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950" y="1211905"/>
            <a:ext cx="8674100" cy="1943100"/>
          </a:xfrm>
        </p:spPr>
        <p:txBody>
          <a:bodyPr>
            <a:normAutofit/>
          </a:bodyPr>
          <a:lstStyle/>
          <a:p>
            <a:r>
              <a:rPr lang="en-US" sz="1800" b="1" dirty="0"/>
              <a:t>Trino: </a:t>
            </a:r>
            <a:r>
              <a:rPr lang="en-US" sz="1800" dirty="0"/>
              <a:t>serves as the powerful distributed query engine designed to execute SQL queries on data stored in Iceberg. It connects to the Hive </a:t>
            </a:r>
            <a:r>
              <a:rPr lang="en-US" sz="1800" dirty="0" err="1"/>
              <a:t>Metastore</a:t>
            </a:r>
            <a:r>
              <a:rPr lang="en-US" sz="1800" dirty="0"/>
              <a:t> to retrieve table schema information, then reads Parquet files directly from </a:t>
            </a:r>
            <a:r>
              <a:rPr lang="en-US" sz="1800" dirty="0" err="1"/>
              <a:t>MinIO</a:t>
            </a:r>
            <a:r>
              <a:rPr lang="en-US" sz="1800" dirty="0"/>
              <a:t> to produce query results. This capability enables </a:t>
            </a:r>
            <a:r>
              <a:rPr lang="en-US" sz="1800" b="1" dirty="0"/>
              <a:t>Apache Superset </a:t>
            </a:r>
            <a:r>
              <a:rPr lang="en-US" sz="1800" dirty="0"/>
              <a:t>to visualize charts and analyze historical data with real-time responsiveness, high performance, and smooth interactive exploration, supporting deeper insights and more effective data-driven decision-making.</a:t>
            </a:r>
            <a:endParaRPr lang="en-US" sz="1800" b="1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4551EEC-37A8-15F7-93A1-A65A898649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2937" y="3276599"/>
            <a:ext cx="1951463" cy="195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3A7F0EF7-F050-C7F1-7044-733BB1A85B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A59F522-C3A0-6762-8F26-BFD6D6053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899" y="3429000"/>
            <a:ext cx="5279401" cy="20730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3155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FFD16-1027-81A2-6748-8E0A7035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7D3062-E9E6-C85B-512C-153D185E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840F9F-13B7-FD04-5EF1-F748248A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113289"/>
            <a:ext cx="8673846" cy="451739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and Visualization Layer- Trino and Apache Superset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6BCEB2-4DC0-37E1-0A22-74219D7C33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26498"/>
            <a:ext cx="9030475" cy="2293432"/>
          </a:xfrm>
        </p:spPr>
        <p:txBody>
          <a:bodyPr>
            <a:noAutofit/>
          </a:bodyPr>
          <a:lstStyle/>
          <a:p>
            <a:r>
              <a:rPr lang="en-US" sz="1800" b="1" dirty="0"/>
              <a:t>Apache Superset: </a:t>
            </a:r>
            <a:r>
              <a:rPr lang="en-US" sz="1800" dirty="0"/>
              <a:t>serves as the user-facing layer, transforming raw data lake signals into meaningful visual stories. </a:t>
            </a:r>
          </a:p>
          <a:p>
            <a:pPr lvl="1"/>
            <a:r>
              <a:rPr lang="en-US" sz="1800" dirty="0"/>
              <a:t>Implemented </a:t>
            </a:r>
            <a:r>
              <a:rPr lang="en-US" sz="1800" b="1" dirty="0"/>
              <a:t>Geospatial Visualization (Deck.gl)</a:t>
            </a:r>
            <a:r>
              <a:rPr lang="en-US" sz="1800" dirty="0"/>
              <a:t> to map data across Vietnamese provinces. </a:t>
            </a:r>
          </a:p>
          <a:p>
            <a:pPr lvl="1"/>
            <a:r>
              <a:rPr lang="en-US" sz="1800" dirty="0"/>
              <a:t>Designed </a:t>
            </a:r>
            <a:r>
              <a:rPr lang="en-US" sz="1800" b="1" dirty="0"/>
              <a:t>Gauge Charts</a:t>
            </a:r>
            <a:r>
              <a:rPr lang="en-US" sz="1800" dirty="0"/>
              <a:t> with conditional formatting for immediate humidity alerts.</a:t>
            </a:r>
          </a:p>
          <a:p>
            <a:pPr lvl="1"/>
            <a:r>
              <a:rPr lang="en-US" sz="1800" dirty="0"/>
              <a:t>Visualized temperature trends using </a:t>
            </a:r>
            <a:r>
              <a:rPr lang="en-US" sz="1800" b="1" dirty="0"/>
              <a:t>Time-series Analysis</a:t>
            </a:r>
            <a:r>
              <a:rPr lang="en-US" sz="1800" dirty="0"/>
              <a:t> and mixed-chart types.</a:t>
            </a:r>
          </a:p>
          <a:p>
            <a:pPr lvl="1"/>
            <a:r>
              <a:rPr lang="en-US" sz="1800" dirty="0"/>
              <a:t>A dynamic table fetching data from the MongoDB "Hot Path", showing the latest weather metrics and comfort indices for each city.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C30AA17-2B36-A618-C205-46D3328EF4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2937" y="3276599"/>
            <a:ext cx="1951463" cy="195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A50BC822-5EEF-5FE3-54A1-C301B8BFD0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06AD6E-6595-F47D-6675-EBC96E5B0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025" y="3573057"/>
            <a:ext cx="5402424" cy="25224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2673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6EE5A-AF14-999A-CEBB-F56CA2FB3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52430D-D2B8-FA61-F71A-E172CB82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7BCED536-FC23-269A-189B-AD12264B41BF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166346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565</TotalTime>
  <Words>1043</Words>
  <Application>Microsoft Office PowerPoint</Application>
  <PresentationFormat>On-screen Show (4:3)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Lato</vt:lpstr>
      <vt:lpstr>Office 2013 - 2022 Theme</vt:lpstr>
      <vt:lpstr>PowerPoint Presentation</vt:lpstr>
      <vt:lpstr>Project Overview </vt:lpstr>
      <vt:lpstr>General architecture</vt:lpstr>
      <vt:lpstr>Data Source</vt:lpstr>
      <vt:lpstr>Data ingestion layer: Apache NiFi and Kafka</vt:lpstr>
      <vt:lpstr>Streaming Flow with NiFi</vt:lpstr>
      <vt:lpstr>Data Processing with Apache Spark</vt:lpstr>
      <vt:lpstr>Apache Spark: Data Transformation and Aggregation Logic</vt:lpstr>
      <vt:lpstr>Storage Layer - Apache Iceberg and MongoDB</vt:lpstr>
      <vt:lpstr>Query and Visualization Layer- Trino and Apache Superset</vt:lpstr>
      <vt:lpstr>Query and Visualization Layer- Trino and Apache Superset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Le Gia Huy 20225498</cp:lastModifiedBy>
  <cp:revision>31</cp:revision>
  <dcterms:created xsi:type="dcterms:W3CDTF">2021-05-28T04:32:29Z</dcterms:created>
  <dcterms:modified xsi:type="dcterms:W3CDTF">2025-12-21T11:00:59Z</dcterms:modified>
</cp:coreProperties>
</file>